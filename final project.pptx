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8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71" r:id="rId14"/>
    <p:sldId id="272" r:id="rId15"/>
    <p:sldId id="273" r:id="rId16"/>
    <p:sldId id="267" r:id="rId17"/>
    <p:sldId id="280" r:id="rId18"/>
    <p:sldId id="281" r:id="rId19"/>
    <p:sldId id="282" r:id="rId20"/>
    <p:sldId id="283" r:id="rId21"/>
    <p:sldId id="274" r:id="rId22"/>
    <p:sldId id="275" r:id="rId23"/>
    <p:sldId id="276" r:id="rId24"/>
    <p:sldId id="277" r:id="rId25"/>
    <p:sldId id="285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2836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23921B-0D19-E548-94FC-B1AE2FDA6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67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Renewable Energy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is energy generated from natural resources that are naturally replenished.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993392" cy="137160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52728" y="2286000"/>
            <a:ext cx="585216" cy="585216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52728" y="22860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Energy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70632" y="2057400"/>
            <a:ext cx="1993392" cy="137160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74720" y="2286000"/>
            <a:ext cx="585216" cy="585216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22860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70632" y="301752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Energy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92624" y="2057400"/>
            <a:ext cx="1993392" cy="137160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696712" y="2286000"/>
            <a:ext cx="585216" cy="585216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96712" y="22860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92624" y="301752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Hydropower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214616" y="2057400"/>
            <a:ext cx="1993392" cy="137160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18704" y="2286000"/>
            <a:ext cx="585216" cy="585216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918704" y="22860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14616" y="301752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436608" y="2057400"/>
            <a:ext cx="1993392" cy="137160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140696" y="2286000"/>
            <a:ext cx="585216" cy="585216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140696" y="22860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436608" y="301752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Geothermal Energy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HELPS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160520"/>
            <a:ext cx="10881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carbon emissions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environment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sustainable development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dependence on fossil fuels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future energy demands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5897880"/>
            <a:ext cx="10881360" cy="548640"/>
          </a:xfrm>
          <a:prstGeom prst="rect">
            <a:avLst/>
          </a:prstGeom>
          <a:solidFill>
            <a:srgbClr val="0F3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2960" y="5897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renewable energy is growing worldwide, renewable energy performance still varies between countries.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around the world are investing heavily in renewable energy.</a:t>
            </a:r>
            <a:endParaRPr lang="en-US" sz="1550" dirty="0"/>
          </a:p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However, renewable energy performance still differs from one country to another because of economic, environmental, and governmental factors.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1280160" y="3383280"/>
            <a:ext cx="9601200" cy="1965960"/>
          </a:xfrm>
          <a:prstGeom prst="rect">
            <a:avLst/>
          </a:prstGeom>
          <a:solidFill>
            <a:srgbClr val="0F3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80160" y="3383280"/>
            <a:ext cx="9601200" cy="1965960"/>
          </a:xfrm>
          <a:prstGeom prst="rect">
            <a:avLst/>
          </a:prstGeom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80160" y="361188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8FD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QUESTION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3886200"/>
            <a:ext cx="9235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Factors Shape Renewable</a:t>
            </a:r>
            <a:endParaRPr lang="en-US" sz="2700" dirty="0"/>
          </a:p>
          <a:p>
            <a:pPr marL="0" indent="0" algn="ctr">
              <a:buNone/>
            </a:pPr>
            <a:r>
              <a:rPr lang="en-US" sz="2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Performance?”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Python with SQL Server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309360" cy="4709160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343357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374446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Connection Code Screenshot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0736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the pyodbc connection code screenshot here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086600" y="1463040"/>
            <a:ext cx="4572000" cy="470916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60920" y="1737360"/>
            <a:ext cx="502920" cy="502920"/>
          </a:xfrm>
          <a:prstGeom prst="ellipse">
            <a:avLst/>
          </a:prstGeom>
          <a:solidFill>
            <a:srgbClr val="0F3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6092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60920" y="237744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Connected Python to SQL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60920" y="292608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analyzing the dataset, Python was connected to SQL Server using pyodbc.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60920" y="3703320"/>
            <a:ext cx="3977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the database directly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SQL queries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data efficiently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data analysis using Python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0B2DB5B-3A3F-8C12-F910-9D4E70752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446865"/>
            <a:ext cx="6339841" cy="47415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0" cy="2606040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382012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69290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Five Rows of Dataset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02209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dataframe .head() screenshot here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4251960"/>
            <a:ext cx="1463040" cy="96012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4343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48640" y="48280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94560" y="4251960"/>
            <a:ext cx="1463040" cy="96012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94560" y="4343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2,500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194560" y="48280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0" y="4251960"/>
            <a:ext cx="1463040" cy="96012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0" y="4343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840480" y="48280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4251960"/>
            <a:ext cx="1463040" cy="96012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0" y="4343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Server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486400" y="48280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86600" y="1463040"/>
            <a:ext cx="4572000" cy="3749040"/>
          </a:xfrm>
          <a:prstGeom prst="rect">
            <a:avLst/>
          </a:prstGeom>
          <a:solidFill>
            <a:srgbClr val="0F3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60920" y="1691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360920" y="21031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renewable energy information from multiple countries, including: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60920" y="2651760"/>
            <a:ext cx="40233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Type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Emissions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Policies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Indicators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Resources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9B4429E-4011-20E1-4351-11049ED30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99" y="1440180"/>
            <a:ext cx="6488503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709160" cy="2834640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496312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80720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Cleaning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13639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 screenshot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40680" y="2651760"/>
            <a:ext cx="502920" cy="502920"/>
          </a:xfrm>
          <a:prstGeom prst="ellipse">
            <a:avLst/>
          </a:prstGeom>
          <a:solidFill>
            <a:srgbClr val="0F3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4068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4709160" cy="2834640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09360" y="2496312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280720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313639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dataset screenshot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PROCESS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846320"/>
            <a:ext cx="6766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Values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unnecessary data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data quality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the dataset for visualization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the dataset for machine learning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89520" y="4846320"/>
            <a:ext cx="4069080" cy="150876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63840" y="4846320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cleaned dataset became accurate and reliable for analysis.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3DF3D45-4DC7-294E-C2D8-723A4E7B9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440327"/>
            <a:ext cx="4873925" cy="292136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3C0CDFD-D64B-65D5-FADF-947CBEE1C2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40328"/>
            <a:ext cx="4807789" cy="2921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195560" cy="2286000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221992"/>
            <a:ext cx="9829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32888"/>
            <a:ext cx="9829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Created Columns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862072"/>
            <a:ext cx="9829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engineered feature columns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3185160" cy="19202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4800600"/>
            <a:ext cx="2636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Per Capita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5303520"/>
            <a:ext cx="2636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output relative to population size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53840" y="3977640"/>
            <a:ext cx="3185160" cy="19202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28160" y="4206240"/>
            <a:ext cx="457200" cy="45720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2816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28160" y="4800600"/>
            <a:ext cx="2636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Per Capita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28160" y="5303520"/>
            <a:ext cx="2636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environmental impact per person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559040" y="3977640"/>
            <a:ext cx="3185160" cy="19202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833360" y="4206240"/>
            <a:ext cx="457200" cy="45720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3336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833360" y="4800600"/>
            <a:ext cx="2636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Ratio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833360" y="5303520"/>
            <a:ext cx="2636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production directed to export markets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6080760"/>
            <a:ext cx="10195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features provided deeper insights into renewable energy performance.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E2D4DC8-73F5-4DD4-D3F6-823009FFC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53312"/>
            <a:ext cx="1035169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Questions Using SQL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12080" cy="457200"/>
          </a:xfrm>
          <a:prstGeom prst="rect">
            <a:avLst/>
          </a:prstGeom>
          <a:solidFill>
            <a:srgbClr val="0F3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102" y="2130552"/>
            <a:ext cx="5072332" cy="1197864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3362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6471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9763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for Question 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62000" y="3803904"/>
            <a:ext cx="4815840" cy="1131762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40507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3616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Chart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6908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for Question 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5440680"/>
            <a:ext cx="5212080" cy="7772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102" y="5440680"/>
            <a:ext cx="50723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Geothermal energy leads in total job creation, closely followed by Wind, Solar, and Biomass, while Hydro energy accounts for the lowest share of employment among renewable sources.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5212080" cy="457200"/>
          </a:xfrm>
          <a:prstGeom prst="rect">
            <a:avLst/>
          </a:prstGeom>
          <a:solidFill>
            <a:srgbClr val="0F3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14173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88657" y="2130552"/>
            <a:ext cx="5004184" cy="1097280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0" y="23362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6471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9763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for Question 2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0" y="3886199"/>
            <a:ext cx="4528868" cy="1298450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0" y="40507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43616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Chart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46908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for Question 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17920" y="5440680"/>
            <a:ext cx="5212080" cy="7772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55080" y="544068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ranks highest in total renewable energy production, followed by China and Japan, whereas the USA and Canada record the lowest production levels among the top 10 countries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0813727-E5FB-9D44-D541-479B2C1F5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65959"/>
            <a:ext cx="5212080" cy="146304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DEA86E0-9F08-9535-82C7-22C24B6066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967513"/>
            <a:ext cx="5212080" cy="14614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B71CD0A-6535-A375-7128-BA6D88F488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39" y="3566160"/>
            <a:ext cx="5212081" cy="177393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63D62AB1-91DA-E80C-C95B-797965397A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1" y="3566160"/>
            <a:ext cx="5212080" cy="16184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Questions Using SQL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12080" cy="457200"/>
          </a:xfrm>
          <a:prstGeom prst="rect">
            <a:avLst/>
          </a:prstGeom>
          <a:solidFill>
            <a:srgbClr val="0F3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30552"/>
            <a:ext cx="5029200" cy="1097280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3362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6471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9763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for Question 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44880" y="3633187"/>
            <a:ext cx="4724400" cy="1551461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40507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3616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Chart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6908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for Question 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5440680"/>
            <a:ext cx="5212080" cy="7772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5800" y="544068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scatter plot shows a uniform distribution across all energy types, indicating no strong linear correlation between financial investment levels and total energy output.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5212080" cy="457200"/>
          </a:xfrm>
          <a:prstGeom prst="rect">
            <a:avLst/>
          </a:prstGeom>
          <a:solidFill>
            <a:srgbClr val="0F3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14173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33011" y="2130552"/>
            <a:ext cx="4959829" cy="1197864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0" y="23362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6471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9763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for Question 4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33011" y="3594164"/>
            <a:ext cx="4959829" cy="1590484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0" y="40507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43616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Chart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46908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for Question 4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17920" y="5440680"/>
            <a:ext cx="5212080" cy="7772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55080" y="544068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renewable energy production exhibits significant annual fluctuations from 2000 to 2023, reaching its peak around 2010 before stabilizing into cyclic highs and lows.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9878DDF-A7A2-1848-D1D2-2D20B4369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01393"/>
            <a:ext cx="5212080" cy="142760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7B621EF-E08C-5778-4F33-09EA424F61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1" y="2001393"/>
            <a:ext cx="5212080" cy="142760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8A57DE8-6B6F-45B9-2270-07CAA6617F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579876"/>
            <a:ext cx="5212079" cy="172364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33928E1-63F1-DD7C-1249-B541C7DC27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1" y="3579877"/>
            <a:ext cx="5212079" cy="17053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Questions Using SQL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12080" cy="457200"/>
          </a:xfrm>
          <a:prstGeom prst="rect">
            <a:avLst/>
          </a:prstGeom>
          <a:solidFill>
            <a:srgbClr val="0F3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130552"/>
            <a:ext cx="4937760" cy="1120140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3362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6471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9763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for Question 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3726180"/>
            <a:ext cx="4937760" cy="1440180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40507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3616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Chart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6908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for Question 5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5440680"/>
            <a:ext cx="5212080" cy="7772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544068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correlation matrix reveals virtually no linear correlation among the numeric variables, with all pairwise correlation coefficients staying extremely close to zero (between -0.03 and 0.04).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5212080" cy="457200"/>
          </a:xfrm>
          <a:prstGeom prst="rect">
            <a:avLst/>
          </a:prstGeom>
          <a:solidFill>
            <a:srgbClr val="0F3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14173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31282" y="2130552"/>
            <a:ext cx="4815838" cy="1197864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0" y="23362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6471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9763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for Question 6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92240" y="3653028"/>
            <a:ext cx="4785055" cy="1513332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0" y="40507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43616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Chart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46908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for Question 6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48400" y="5454396"/>
            <a:ext cx="5212080" cy="7772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55080" y="544068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energy production range is evenly distributed across all renewable types, with Biomass displaying a slightly higher median production than the other sources.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355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SQL analysis answered important business questions and provided valuable insights before moving to predictive analytics.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AB688DD-BB96-9D27-B0EB-40ED3F322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1"/>
            <a:ext cx="5212080" cy="141732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EBE136B-5795-0DB8-8093-1D10F2DC85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634739"/>
            <a:ext cx="5242560" cy="162763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7DB5849-576A-8D90-A8EF-6660F56A3A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653028"/>
            <a:ext cx="5212080" cy="1609341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0B703944-0D4D-56F2-7416-171061F128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2011681"/>
            <a:ext cx="521208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Renewable Energy Prediction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was used to predict renewable energy performance using the available indicators.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3400" y="1892808"/>
            <a:ext cx="3108960" cy="105156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3232" y="2029968"/>
            <a:ext cx="2779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VARIABLES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13232" y="2450592"/>
            <a:ext cx="277977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800" dirty="0"/>
          </a:p>
          <a:p>
            <a:r>
              <a:rPr lang="en-US" sz="800" dirty="0"/>
              <a:t>, 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r>
              <a:rPr lang="en-US" sz="1050" dirty="0" err="1"/>
              <a:t>I</a:t>
            </a:r>
            <a:r>
              <a:rPr lang="en-US" sz="1100" dirty="0" err="1"/>
              <a:t>nstalled_Capacity_MW</a:t>
            </a:r>
            <a:r>
              <a:rPr lang="en-US" sz="1100" dirty="0"/>
              <a:t>, </a:t>
            </a:r>
            <a:r>
              <a:rPr lang="en-US" sz="1100" dirty="0" err="1"/>
              <a:t>Investments_USD</a:t>
            </a:r>
            <a:endParaRPr lang="en-US" sz="1100" dirty="0"/>
          </a:p>
          <a:p>
            <a:r>
              <a:rPr lang="en-US" sz="1100" dirty="0" err="1"/>
              <a:t>Population,GDP</a:t>
            </a:r>
            <a:r>
              <a:rPr lang="en-US" sz="1100" dirty="0"/>
              <a:t>, </a:t>
            </a:r>
            <a:r>
              <a:rPr lang="en-US" sz="1100" dirty="0" err="1"/>
              <a:t>Energy_Consumption</a:t>
            </a:r>
            <a:r>
              <a:rPr lang="en-US" sz="1100" dirty="0"/>
              <a:t>, </a:t>
            </a:r>
            <a:r>
              <a:rPr lang="en-US" sz="1100" dirty="0" err="1"/>
              <a:t>Renewable_Energy_Jobs</a:t>
            </a:r>
            <a:r>
              <a:rPr lang="en-US" sz="1100" dirty="0"/>
              <a:t>, </a:t>
            </a:r>
            <a:r>
              <a:rPr lang="en-US" sz="1100" dirty="0" err="1"/>
              <a:t>Solar_Irradiance</a:t>
            </a:r>
            <a:endParaRPr lang="en-US" sz="11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9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31920" y="1920240"/>
            <a:ext cx="3108960" cy="105156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096512" y="2029968"/>
            <a:ext cx="2779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VARIABLE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096512" y="2304288"/>
            <a:ext cx="2779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 err="1"/>
              <a:t>Production_Per_Capita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36392"/>
            <a:ext cx="3108960" cy="105156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3246120"/>
            <a:ext cx="2779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13232" y="3520440"/>
            <a:ext cx="2779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80% / 20%]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31920" y="3134408"/>
            <a:ext cx="3108960" cy="105156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96512" y="3246120"/>
            <a:ext cx="2779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096512" y="3520440"/>
            <a:ext cx="2779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/>
              <a:t>Random Forest Regressor</a:t>
            </a:r>
          </a:p>
        </p:txBody>
      </p:sp>
      <p:sp>
        <p:nvSpPr>
          <p:cNvPr id="17" name="Shape 15"/>
          <p:cNvSpPr/>
          <p:nvPr/>
        </p:nvSpPr>
        <p:spPr>
          <a:xfrm>
            <a:off x="548640" y="4352544"/>
            <a:ext cx="3108960" cy="105156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3232" y="4462272"/>
            <a:ext cx="2779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13232" y="4736592"/>
            <a:ext cx="2779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931920" y="4352544"/>
            <a:ext cx="3108960" cy="105156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096512" y="4462272"/>
            <a:ext cx="2779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SCORE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096512" y="4736592"/>
            <a:ext cx="2779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[R² / RMSE / MAE]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0" y="2156604"/>
            <a:ext cx="4160520" cy="3847381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06640" y="366217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06640" y="397306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Graph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06640" y="430225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predicted output visualization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F4962F4-596E-4D51-EF13-DFB45DD96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1920240"/>
            <a:ext cx="4529497" cy="41613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Analytical Dashboard — Part 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dashboard provides deeper renewable energy analysis, enabling country comparison and indicator analysis.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446520" cy="4434840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799332"/>
            <a:ext cx="6080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411022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Analytical Dashboard —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439412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dashboard screenshot here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264770" y="1965960"/>
            <a:ext cx="2794958" cy="44348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392698" y="2080260"/>
            <a:ext cx="25921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92698" y="2491740"/>
            <a:ext cx="2037301" cy="3726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Comparison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Analysis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Filtering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Exploration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40F1BD1-BF21-AA7C-C260-1CE701B0A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15" y="1874520"/>
            <a:ext cx="8639354" cy="46729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Analytical Dashboard — Part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73936"/>
            <a:ext cx="6446520" cy="4626864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3547872"/>
            <a:ext cx="6080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385876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Analytical Dashboard — advanced charts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187952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dashboard screenshot here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204385" y="1863090"/>
            <a:ext cx="2751826" cy="453771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45924" y="2099691"/>
            <a:ext cx="2405765" cy="3223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445924" y="2513586"/>
            <a:ext cx="1984075" cy="3299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Charts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Features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FFE1115-9D8D-D995-5A14-C50766625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1"/>
            <a:ext cx="8484941" cy="48737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Dashboard — Part 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Tableau dashboard provides advanced interactive visualizations with dynamic filtering.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446520" cy="4434840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799332"/>
            <a:ext cx="6080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411022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 —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439412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dashboard screenshot here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230264" y="2039112"/>
            <a:ext cx="2799272" cy="44348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325154" y="2194560"/>
            <a:ext cx="210484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85540" y="2560320"/>
            <a:ext cx="20444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Visualizations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Filtering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Cross-Country Insights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9290E2F-AAA6-C620-934D-240D2C726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71" y="1874520"/>
            <a:ext cx="85761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Dashboard — Part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46520" cy="4937760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3547872"/>
            <a:ext cx="6080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385876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 — interactive 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187952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dashboard screenshot here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333780" y="2057400"/>
            <a:ext cx="2725947" cy="434340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33780" y="2199390"/>
            <a:ext cx="20962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33780" y="2510286"/>
            <a:ext cx="2096219" cy="32047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Exploration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Visualizations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CD131B7-8CAC-C93D-8203-32CEE8A5C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562" y="1325880"/>
            <a:ext cx="8729932" cy="51480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pi Analytical Dashboard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08660" y="1851660"/>
            <a:ext cx="10195560" cy="3200400"/>
          </a:xfrm>
          <a:prstGeom prst="rect">
            <a:avLst/>
          </a:prstGeom>
          <a:solidFill>
            <a:srgbClr val="F1F4F2"/>
          </a:solidFill>
          <a:ln w="19050">
            <a:solidFill>
              <a:srgbClr val="2E7D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679192"/>
            <a:ext cx="9829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SCREENSHOT PLACEHOLDER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990088"/>
            <a:ext cx="9829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Suite 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319272"/>
            <a:ext cx="9829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/ hero screenshot of the three dashboards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5120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5120640"/>
            <a:ext cx="216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Executive Dashboard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07280" y="5120640"/>
            <a:ext cx="216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Analytical Dashboard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57160" y="5120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97240" y="5120640"/>
            <a:ext cx="216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0195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85BD26B-7DA3-E514-4035-40A7B663A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55" y="1388853"/>
            <a:ext cx="10776405" cy="492050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84AA06-1817-C311-73C8-804AAEC86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410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81ED8B-2AD2-9615-81B2-0E83EA44C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1018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1C7D41-1FFA-2242-BBE4-CF1971FAD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678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E21AFA-A76E-C7CD-5FA8-85DCE49E7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0953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Findings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881360" cy="73152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7DD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37360" y="155448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performance differs across countries.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0881360" cy="731520"/>
          </a:xfrm>
          <a:prstGeom prst="rect">
            <a:avLst/>
          </a:prstGeom>
          <a:solidFill>
            <a:srgbClr val="0F3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E8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37360" y="242316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Investments positively influence renewable energy performance.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0881360" cy="73152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2918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7DD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37360" y="329184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resources contribute to renewable energy development.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10881360" cy="731520"/>
          </a:xfrm>
          <a:prstGeom prst="rect">
            <a:avLst/>
          </a:prstGeom>
          <a:solidFill>
            <a:srgbClr val="0F3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41605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E8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37360" y="416052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policies support renewable energy growth.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0881360" cy="73152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50292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7DD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737360" y="502920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 simplify business analysis.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Insights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32918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85900" y="2148840"/>
            <a:ext cx="640080" cy="64008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8590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and cleaned the data.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828800"/>
            <a:ext cx="2514600" cy="32918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74820" y="2148840"/>
            <a:ext cx="640080" cy="64008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7482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29718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20440" y="35204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important business questions.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514600" cy="32918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063740" y="2148840"/>
            <a:ext cx="640080" cy="64008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6374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29718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09360" y="35204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renewable energy performance.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15400" y="1828800"/>
            <a:ext cx="2514600" cy="32918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852660" y="2148840"/>
            <a:ext cx="640080" cy="64008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85266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98280" y="29718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098280" y="35204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Transformed raw data into interactive business insights.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Answering the Business Question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881360" cy="1188720"/>
          </a:xfrm>
          <a:prstGeom prst="rect">
            <a:avLst/>
          </a:prstGeom>
          <a:solidFill>
            <a:srgbClr val="0F3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Factors Shape Renewable Energy Performance?”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993392" cy="114300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18105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70632" y="2971800"/>
            <a:ext cx="1993392" cy="114300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62072" y="2971800"/>
            <a:ext cx="18105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Indicators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92624" y="2971800"/>
            <a:ext cx="1993392" cy="114300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84064" y="2971800"/>
            <a:ext cx="18105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Resources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14616" y="2971800"/>
            <a:ext cx="1993392" cy="114300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06056" y="2971800"/>
            <a:ext cx="18105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Policies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436608" y="2971800"/>
            <a:ext cx="1993392" cy="114300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528048" y="2971800"/>
            <a:ext cx="18105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4805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performance is influenced by a combination of these factors, which collectively support better decision-making.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44240" cy="16916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298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renewable energy investments.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67200" y="1600200"/>
            <a:ext cx="3444240" cy="16916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95800" y="1828800"/>
            <a:ext cx="502920" cy="50292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9580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95800" y="2468880"/>
            <a:ext cx="298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government policies.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85760" y="1600200"/>
            <a:ext cx="3444240" cy="16916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14360" y="1828800"/>
            <a:ext cx="502920" cy="50292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143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14360" y="2468880"/>
            <a:ext cx="298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innovation and research.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3444240" cy="16916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3794760"/>
            <a:ext cx="502920" cy="50292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4434840"/>
            <a:ext cx="298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renewable energy infrastructure.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67200" y="3566160"/>
            <a:ext cx="3444240" cy="1691640"/>
          </a:xfrm>
          <a:prstGeom prst="rect">
            <a:avLst/>
          </a:prstGeom>
          <a:solidFill>
            <a:srgbClr val="F1F4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95800" y="3794760"/>
            <a:ext cx="502920" cy="50292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9580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95800" y="4434840"/>
            <a:ext cx="298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using Business Intelligence tools to monitor renewable energy performance.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ANALYTICS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264701-5F4C-05FF-ED48-39DF2349A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214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1194</Words>
  <Application>Microsoft Office PowerPoint</Application>
  <PresentationFormat>Widescreen</PresentationFormat>
  <Paragraphs>333</Paragraphs>
  <Slides>25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yasmin khalil</cp:lastModifiedBy>
  <cp:revision>6</cp:revision>
  <dcterms:created xsi:type="dcterms:W3CDTF">2026-07-24T21:46:08Z</dcterms:created>
  <dcterms:modified xsi:type="dcterms:W3CDTF">2026-07-27T23:37:25Z</dcterms:modified>
</cp:coreProperties>
</file>